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>
        <p:scale>
          <a:sx n="30" d="100"/>
          <a:sy n="30" d="100"/>
        </p:scale>
        <p:origin x="3296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67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9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8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0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6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1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1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E265F-340B-7F41-9A5F-0E470DA6D54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502A0-342C-B549-8A78-ECFF4636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8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0E048CD-25E7-4D3D-1617-4614E50FF69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6AE8B-8818-3F61-737A-D8344904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2" y="2138765"/>
            <a:ext cx="9265056" cy="6578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15EA0A-6B69-3558-220D-BDDEFBF94E7B}"/>
              </a:ext>
            </a:extLst>
          </p:cNvPr>
          <p:cNvSpPr txBox="1"/>
          <p:nvPr/>
        </p:nvSpPr>
        <p:spPr>
          <a:xfrm>
            <a:off x="3444240" y="1097280"/>
            <a:ext cx="1945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Route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6C6E2-2BFE-1BBD-040C-AD6E6F7FD9DA}"/>
              </a:ext>
            </a:extLst>
          </p:cNvPr>
          <p:cNvSpPr txBox="1"/>
          <p:nvPr/>
        </p:nvSpPr>
        <p:spPr>
          <a:xfrm>
            <a:off x="2114751" y="7250850"/>
            <a:ext cx="1329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65.50%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992D5-9C7B-4F12-F6D1-6A23B45FB58E}"/>
              </a:ext>
            </a:extLst>
          </p:cNvPr>
          <p:cNvSpPr txBox="1"/>
          <p:nvPr/>
        </p:nvSpPr>
        <p:spPr>
          <a:xfrm>
            <a:off x="3444240" y="7220072"/>
            <a:ext cx="135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71.86%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056E3-1E02-A1B4-9006-6D290FB3F296}"/>
              </a:ext>
            </a:extLst>
          </p:cNvPr>
          <p:cNvSpPr txBox="1"/>
          <p:nvPr/>
        </p:nvSpPr>
        <p:spPr>
          <a:xfrm>
            <a:off x="2989409" y="5784419"/>
            <a:ext cx="480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60.34%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22428E-0CBF-5C72-9681-F8B9A9F09FCE}"/>
              </a:ext>
            </a:extLst>
          </p:cNvPr>
          <p:cNvSpPr txBox="1"/>
          <p:nvPr/>
        </p:nvSpPr>
        <p:spPr>
          <a:xfrm>
            <a:off x="4872351" y="4348766"/>
            <a:ext cx="3646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 71.26%</a:t>
            </a:r>
            <a:endParaRPr 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16DD5-DF84-D4EE-8D52-0E584BF6FFBC}"/>
              </a:ext>
            </a:extLst>
          </p:cNvPr>
          <p:cNvSpPr txBox="1"/>
          <p:nvPr/>
        </p:nvSpPr>
        <p:spPr>
          <a:xfrm>
            <a:off x="8235176" y="2874434"/>
            <a:ext cx="1125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62.29%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4E7BF9-8DC7-668B-D0FA-DBF1D8ED5B2C}"/>
              </a:ext>
            </a:extLst>
          </p:cNvPr>
          <p:cNvSpPr txBox="1"/>
          <p:nvPr/>
        </p:nvSpPr>
        <p:spPr>
          <a:xfrm>
            <a:off x="0" y="10438374"/>
            <a:ext cx="96011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dirty="0">
                <a:solidFill>
                  <a:srgbClr val="00B050"/>
                </a:solidFill>
                <a:effectLst/>
              </a:rPr>
              <a:t>BOYA Aggregated Yield: 18.36%</a:t>
            </a:r>
          </a:p>
          <a:p>
            <a:pPr algn="ctr">
              <a:buNone/>
            </a:pPr>
            <a:endParaRPr lang="en-US" sz="2400" b="1" dirty="0"/>
          </a:p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Average Yield of Reactions: 66.25% </a:t>
            </a:r>
          </a:p>
          <a:p>
            <a:pPr algn="ctr">
              <a:buNone/>
            </a:pP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algn="ctr"/>
            <a:r>
              <a:rPr lang="en-US" sz="2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Badowski Aggregated Yield Score: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1.0304</a:t>
            </a: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262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19541EA-7DC6-0984-E009-A27C23ABD358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C4F16-F8F6-357E-5DA4-F8C521AA9717}"/>
              </a:ext>
            </a:extLst>
          </p:cNvPr>
          <p:cNvSpPr txBox="1"/>
          <p:nvPr/>
        </p:nvSpPr>
        <p:spPr>
          <a:xfrm>
            <a:off x="3444240" y="1097280"/>
            <a:ext cx="1945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Route 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195599-8428-899E-CC06-8D2B9E50F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2897223"/>
            <a:ext cx="9216189" cy="70071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7FC8EF-B794-7FF9-6777-2D8C36C677D0}"/>
              </a:ext>
            </a:extLst>
          </p:cNvPr>
          <p:cNvSpPr txBox="1"/>
          <p:nvPr/>
        </p:nvSpPr>
        <p:spPr>
          <a:xfrm>
            <a:off x="2556272" y="8261504"/>
            <a:ext cx="1197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76.61%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B5C153-6AE2-CDDE-232C-F59BE0F34007}"/>
              </a:ext>
            </a:extLst>
          </p:cNvPr>
          <p:cNvSpPr txBox="1"/>
          <p:nvPr/>
        </p:nvSpPr>
        <p:spPr>
          <a:xfrm>
            <a:off x="3964405" y="8261504"/>
            <a:ext cx="1197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68.98%</a:t>
            </a:r>
            <a:endParaRPr 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996D1-0C42-F739-53BD-9922683CF318}"/>
              </a:ext>
            </a:extLst>
          </p:cNvPr>
          <p:cNvSpPr txBox="1"/>
          <p:nvPr/>
        </p:nvSpPr>
        <p:spPr>
          <a:xfrm>
            <a:off x="2662187" y="6707782"/>
            <a:ext cx="1564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65.42%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821E9-1E6F-92F2-C197-0D24E1B00F5F}"/>
              </a:ext>
            </a:extLst>
          </p:cNvPr>
          <p:cNvSpPr txBox="1"/>
          <p:nvPr/>
        </p:nvSpPr>
        <p:spPr>
          <a:xfrm>
            <a:off x="4635383" y="5189887"/>
            <a:ext cx="2222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71.26%</a:t>
            </a:r>
            <a:endParaRPr 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C02C7-74F3-44FA-25D4-B0089D0FA13F}"/>
              </a:ext>
            </a:extLst>
          </p:cNvPr>
          <p:cNvSpPr txBox="1"/>
          <p:nvPr/>
        </p:nvSpPr>
        <p:spPr>
          <a:xfrm>
            <a:off x="8151394" y="3689503"/>
            <a:ext cx="125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62.29%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222392-FEC1-3BB7-7692-82D5188F1559}"/>
              </a:ext>
            </a:extLst>
          </p:cNvPr>
          <p:cNvSpPr txBox="1"/>
          <p:nvPr/>
        </p:nvSpPr>
        <p:spPr>
          <a:xfrm>
            <a:off x="0" y="10438374"/>
            <a:ext cx="96011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dirty="0">
                <a:solidFill>
                  <a:srgbClr val="00B050"/>
                </a:solidFill>
                <a:effectLst/>
              </a:rPr>
              <a:t>BOYA Aggregated Yield: </a:t>
            </a:r>
            <a:r>
              <a:rPr lang="en-US" sz="3200" b="1" dirty="0">
                <a:solidFill>
                  <a:srgbClr val="00B050"/>
                </a:solidFill>
              </a:rPr>
              <a:t>21.08</a:t>
            </a:r>
            <a:r>
              <a:rPr lang="en-US" sz="3200" b="1" i="0" dirty="0">
                <a:solidFill>
                  <a:srgbClr val="00B050"/>
                </a:solidFill>
                <a:effectLst/>
              </a:rPr>
              <a:t>%</a:t>
            </a:r>
          </a:p>
          <a:p>
            <a:pPr algn="ctr">
              <a:buNone/>
            </a:pPr>
            <a:endParaRPr lang="en-US" sz="2400" b="1" dirty="0"/>
          </a:p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Average Yield of Reactions: 68.91% </a:t>
            </a:r>
          </a:p>
          <a:p>
            <a:pPr algn="ctr">
              <a:buNone/>
            </a:pP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algn="ctr"/>
            <a:r>
              <a:rPr lang="en-US" sz="2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Badowski Aggregated Yield Score: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1.0292</a:t>
            </a: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83872B-9496-DFD4-30F0-1E1514B63BC8}"/>
              </a:ext>
            </a:extLst>
          </p:cNvPr>
          <p:cNvSpPr/>
          <p:nvPr/>
        </p:nvSpPr>
        <p:spPr>
          <a:xfrm>
            <a:off x="5687389" y="9355567"/>
            <a:ext cx="813816" cy="713232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46BE6B-ADEE-C069-7310-F6F32165565B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6501205" y="9355567"/>
            <a:ext cx="1280160" cy="3566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A56281-D71A-5757-D934-AE5C862044A3}"/>
              </a:ext>
            </a:extLst>
          </p:cNvPr>
          <p:cNvSpPr txBox="1"/>
          <p:nvPr/>
        </p:nvSpPr>
        <p:spPr>
          <a:xfrm>
            <a:off x="7264417" y="8986235"/>
            <a:ext cx="196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MW: 98.07  g/mol</a:t>
            </a:r>
          </a:p>
        </p:txBody>
      </p:sp>
    </p:spTree>
    <p:extLst>
      <p:ext uri="{BB962C8B-B14F-4D97-AF65-F5344CB8AC3E}">
        <p14:creationId xmlns:p14="http://schemas.microsoft.com/office/powerpoint/2010/main" val="282175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EB13F3F-D8A2-A3D4-1E50-795A705129C2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0D621-6543-F55A-9AA3-A2AE84F85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3" y="2833189"/>
            <a:ext cx="9384633" cy="71352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1BF211-0463-97BE-52F4-FA35DB5FE50B}"/>
              </a:ext>
            </a:extLst>
          </p:cNvPr>
          <p:cNvSpPr txBox="1"/>
          <p:nvPr/>
        </p:nvSpPr>
        <p:spPr>
          <a:xfrm>
            <a:off x="3444240" y="1097280"/>
            <a:ext cx="1945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Route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9DAF0-65EC-DF11-FBD2-7B87F40B3F8B}"/>
              </a:ext>
            </a:extLst>
          </p:cNvPr>
          <p:cNvSpPr txBox="1"/>
          <p:nvPr/>
        </p:nvSpPr>
        <p:spPr>
          <a:xfrm>
            <a:off x="2400299" y="8309629"/>
            <a:ext cx="1329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76.61%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83360-AAE3-2E5E-4EF7-C43779195F09}"/>
              </a:ext>
            </a:extLst>
          </p:cNvPr>
          <p:cNvSpPr txBox="1"/>
          <p:nvPr/>
        </p:nvSpPr>
        <p:spPr>
          <a:xfrm>
            <a:off x="3898230" y="8309629"/>
            <a:ext cx="14914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71.70%</a:t>
            </a:r>
            <a:endParaRPr 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8331E-5E48-87A1-D3F8-488C5F118E24}"/>
              </a:ext>
            </a:extLst>
          </p:cNvPr>
          <p:cNvSpPr txBox="1"/>
          <p:nvPr/>
        </p:nvSpPr>
        <p:spPr>
          <a:xfrm>
            <a:off x="2695275" y="6795878"/>
            <a:ext cx="149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65.42%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F9F11C-F5F3-88FA-1401-3460F7E83DCF}"/>
              </a:ext>
            </a:extLst>
          </p:cNvPr>
          <p:cNvSpPr txBox="1"/>
          <p:nvPr/>
        </p:nvSpPr>
        <p:spPr>
          <a:xfrm>
            <a:off x="4680284" y="5196199"/>
            <a:ext cx="1329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71.26%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5EEC95-CE50-D0FD-4E10-33962FE5B4DD}"/>
              </a:ext>
            </a:extLst>
          </p:cNvPr>
          <p:cNvSpPr txBox="1"/>
          <p:nvPr/>
        </p:nvSpPr>
        <p:spPr>
          <a:xfrm>
            <a:off x="8247647" y="3657600"/>
            <a:ext cx="1245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"/>
              </a:rPr>
              <a:t>62.29%</a:t>
            </a:r>
            <a:endParaRPr 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4F228-74B1-DFD2-C0EA-F20780C5101E}"/>
              </a:ext>
            </a:extLst>
          </p:cNvPr>
          <p:cNvSpPr txBox="1"/>
          <p:nvPr/>
        </p:nvSpPr>
        <p:spPr>
          <a:xfrm>
            <a:off x="0" y="10438374"/>
            <a:ext cx="96011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i="0" dirty="0">
                <a:solidFill>
                  <a:srgbClr val="00B050"/>
                </a:solidFill>
                <a:effectLst/>
              </a:rPr>
              <a:t>BOYA Aggregated Yield: </a:t>
            </a:r>
            <a:r>
              <a:rPr lang="en-US" sz="3200" b="1" dirty="0">
                <a:solidFill>
                  <a:srgbClr val="00B050"/>
                </a:solidFill>
              </a:rPr>
              <a:t>21.51</a:t>
            </a:r>
            <a:r>
              <a:rPr lang="en-US" sz="3200" b="1" i="0" dirty="0">
                <a:solidFill>
                  <a:srgbClr val="00B050"/>
                </a:solidFill>
                <a:effectLst/>
              </a:rPr>
              <a:t>%</a:t>
            </a:r>
          </a:p>
          <a:p>
            <a:pPr algn="ctr">
              <a:buNone/>
            </a:pPr>
            <a:endParaRPr lang="en-US" sz="2400" b="1" dirty="0"/>
          </a:p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Average Yield of Reactions: 69.46% </a:t>
            </a:r>
          </a:p>
          <a:p>
            <a:pPr algn="ctr">
              <a:buNone/>
            </a:pP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algn="ctr"/>
            <a:r>
              <a:rPr lang="en-US" sz="24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Badowski Aggregated Yield Score: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1.0290</a:t>
            </a:r>
            <a:endParaRPr lang="en-US" sz="24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976A2B6-68B8-04BA-6C2D-EB226AB61B87}"/>
              </a:ext>
            </a:extLst>
          </p:cNvPr>
          <p:cNvSpPr/>
          <p:nvPr/>
        </p:nvSpPr>
        <p:spPr>
          <a:xfrm>
            <a:off x="5678424" y="9418320"/>
            <a:ext cx="813816" cy="713232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012CD7-F689-3E38-CAEB-D811027C7576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6492240" y="9418320"/>
            <a:ext cx="1280160" cy="3566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437053-08C0-A970-512D-825B71D95398}"/>
              </a:ext>
            </a:extLst>
          </p:cNvPr>
          <p:cNvSpPr txBox="1"/>
          <p:nvPr/>
        </p:nvSpPr>
        <p:spPr>
          <a:xfrm>
            <a:off x="7255452" y="9048988"/>
            <a:ext cx="204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MW: 118.96 g/mol</a:t>
            </a:r>
          </a:p>
        </p:txBody>
      </p:sp>
    </p:spTree>
    <p:extLst>
      <p:ext uri="{BB962C8B-B14F-4D97-AF65-F5344CB8AC3E}">
        <p14:creationId xmlns:p14="http://schemas.microsoft.com/office/powerpoint/2010/main" val="112927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106</Words>
  <Application>Microsoft Macintosh PowerPoint</Application>
  <PresentationFormat>A3 Paper (297x420 mm)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-apple-system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Zahoranszky-Kohalmi, Gergely (NIH/NCATS) [E]</dc:creator>
  <cp:lastModifiedBy>Zahoranszky-Kohalmi, Gergely (NIH/NCATS) [E]</cp:lastModifiedBy>
  <cp:revision>20</cp:revision>
  <dcterms:created xsi:type="dcterms:W3CDTF">2026-06-04T16:26:29Z</dcterms:created>
  <dcterms:modified xsi:type="dcterms:W3CDTF">2026-06-04T17:49:34Z</dcterms:modified>
</cp:coreProperties>
</file>